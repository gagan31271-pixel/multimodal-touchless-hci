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DDB232-2748-430F-9D3C-352BA3AA2E65}" v="2" dt="2026-05-22T16:11:16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6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gan G" userId="44b421756eb46621" providerId="LiveId" clId="{6150F87D-DE1F-42F4-8FAB-FD1B233E564B}"/>
    <pc:docChg chg="modSld">
      <pc:chgData name="Gagan G" userId="44b421756eb46621" providerId="LiveId" clId="{6150F87D-DE1F-42F4-8FAB-FD1B233E564B}" dt="2026-05-22T16:11:39.154" v="27" actId="2711"/>
      <pc:docMkLst>
        <pc:docMk/>
      </pc:docMkLst>
      <pc:sldChg chg="modSp mod">
        <pc:chgData name="Gagan G" userId="44b421756eb46621" providerId="LiveId" clId="{6150F87D-DE1F-42F4-8FAB-FD1B233E564B}" dt="2026-05-22T16:10:41.838" v="20" actId="20577"/>
        <pc:sldMkLst>
          <pc:docMk/>
          <pc:sldMk cId="0" sldId="262"/>
        </pc:sldMkLst>
        <pc:graphicFrameChg chg="modGraphic">
          <ac:chgData name="Gagan G" userId="44b421756eb46621" providerId="LiveId" clId="{6150F87D-DE1F-42F4-8FAB-FD1B233E564B}" dt="2026-05-22T16:10:41.838" v="20" actId="20577"/>
          <ac:graphicFrameMkLst>
            <pc:docMk/>
            <pc:sldMk cId="0" sldId="262"/>
            <ac:graphicFrameMk id="6" creationId="{00000000-0000-0000-0000-000000000000}"/>
          </ac:graphicFrameMkLst>
        </pc:graphicFrameChg>
      </pc:sldChg>
      <pc:sldChg chg="modSp mod">
        <pc:chgData name="Gagan G" userId="44b421756eb46621" providerId="LiveId" clId="{6150F87D-DE1F-42F4-8FAB-FD1B233E564B}" dt="2026-05-22T16:11:39.154" v="27" actId="2711"/>
        <pc:sldMkLst>
          <pc:docMk/>
          <pc:sldMk cId="0" sldId="271"/>
        </pc:sldMkLst>
        <pc:spChg chg="mod">
          <ac:chgData name="Gagan G" userId="44b421756eb46621" providerId="LiveId" clId="{6150F87D-DE1F-42F4-8FAB-FD1B233E564B}" dt="2026-05-22T16:06:10.636" v="6" actId="255"/>
          <ac:spMkLst>
            <pc:docMk/>
            <pc:sldMk cId="0" sldId="271"/>
            <ac:spMk id="16" creationId="{00000000-0000-0000-0000-000000000000}"/>
          </ac:spMkLst>
        </pc:spChg>
        <pc:spChg chg="mod">
          <ac:chgData name="Gagan G" userId="44b421756eb46621" providerId="LiveId" clId="{6150F87D-DE1F-42F4-8FAB-FD1B233E564B}" dt="2026-05-22T16:11:39.154" v="27" actId="2711"/>
          <ac:spMkLst>
            <pc:docMk/>
            <pc:sldMk cId="0" sldId="271"/>
            <ac:spMk id="40" creationId="{0E0CA8EF-F323-89A8-A38F-6F2F5D508CC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06072" y="0"/>
            <a:ext cx="182880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4">
            <a:extLst>
              <a:ext uri="{FF2B5EF4-FFF2-40B4-BE49-F238E27FC236}">
                <a16:creationId xmlns:a16="http://schemas.microsoft.com/office/drawing/2014/main" id="{8FB9AB74-3DF9-A7D5-6585-4CDB6D6510D1}"/>
              </a:ext>
            </a:extLst>
          </p:cNvPr>
          <p:cNvSpPr txBox="1"/>
          <p:nvPr/>
        </p:nvSpPr>
        <p:spPr>
          <a:xfrm>
            <a:off x="1131394" y="176327"/>
            <a:ext cx="11412228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VISVESVARAYA TECHNOLOGICAL UNIVERSITY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E6D6A5-E56E-4CE4-1B41-CDD8A8B6D16E}"/>
              </a:ext>
            </a:extLst>
          </p:cNvPr>
          <p:cNvSpPr/>
          <p:nvPr/>
        </p:nvSpPr>
        <p:spPr>
          <a:xfrm>
            <a:off x="3491807" y="1429872"/>
            <a:ext cx="57782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92D050"/>
                </a:solidFill>
                <a:latin typeface="Times New Roman"/>
                <a:ea typeface="Source Sans Pro"/>
                <a:cs typeface="Times New Roman"/>
              </a:rPr>
              <a:t>Subject : Project Phase-1 [BCS685</a:t>
            </a:r>
            <a:r>
              <a:rPr lang="en-US" sz="2500" b="1" dirty="0">
                <a:solidFill>
                  <a:srgbClr val="92D050"/>
                </a:solidFill>
                <a:latin typeface="Times New Roman"/>
                <a:ea typeface="Source Sans Pro"/>
                <a:cs typeface="Times New Roman"/>
              </a:rPr>
              <a:t>]</a:t>
            </a:r>
            <a:endParaRPr lang="en-IN" sz="2500" b="1" dirty="0">
              <a:solidFill>
                <a:srgbClr val="92D050"/>
              </a:solidFill>
              <a:ea typeface="Source Sans Pro"/>
              <a:cs typeface="Times New Roman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5A1F7EB1-89CC-9176-8F9B-358FF038D3F0}"/>
              </a:ext>
            </a:extLst>
          </p:cNvPr>
          <p:cNvSpPr txBox="1"/>
          <p:nvPr/>
        </p:nvSpPr>
        <p:spPr>
          <a:xfrm>
            <a:off x="2099193" y="2129419"/>
            <a:ext cx="7990566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</a:rPr>
              <a:t>Multimodal Touchless Human-Computer Interaction Engine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035023-1A24-8F64-E156-3C0F1F7177CE}"/>
              </a:ext>
            </a:extLst>
          </p:cNvPr>
          <p:cNvSpPr txBox="1"/>
          <p:nvPr/>
        </p:nvSpPr>
        <p:spPr>
          <a:xfrm>
            <a:off x="475707" y="4176952"/>
            <a:ext cx="347472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Sneha D P</a:t>
            </a:r>
            <a:endParaRPr lang="en-US" sz="2800" b="1" dirty="0">
              <a:solidFill>
                <a:srgbClr val="92D050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</a:rPr>
              <a:t>Assistant professor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</a:rPr>
              <a:t>Dept of CS&amp;E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VTU CPGS Mysuru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DE4E83-727C-E831-B25F-CAACB1115DCC}"/>
              </a:ext>
            </a:extLst>
          </p:cNvPr>
          <p:cNvSpPr txBox="1"/>
          <p:nvPr/>
        </p:nvSpPr>
        <p:spPr>
          <a:xfrm>
            <a:off x="6534110" y="4179054"/>
            <a:ext cx="565484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Darshan M K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</a:rPr>
              <a:t>               (4VZ23CS011)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Disha H                       (4VZ23CS012)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</a:endParaRPr>
          </a:p>
          <a:p>
            <a:pPr algn="ctr">
              <a:buFont typeface="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Gagan                          (4VZ23CS013)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</a:endParaRPr>
          </a:p>
          <a:p>
            <a:pPr algn="ctr">
              <a:buFont typeface="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Shreya M S                  (4VZ23CS050) 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F230853-142C-B2D9-EF50-235C8148F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1" y="283998"/>
            <a:ext cx="1829562" cy="1873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5135" y="1291272"/>
            <a:ext cx="457200" cy="5943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alibri"/>
              </a:rPr>
              <a:t>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06101"/>
            <a:ext cx="594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Device Dependency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594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 and keyboard unchanged for 4 decades — creating barriers for disabled users and professionals in sterile environments.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45233"/>
            <a:ext cx="457200" cy="5943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72679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594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8974"/>
            <a:ext cx="594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Physically disabled, visually impaired, and motor-challenged users cannot access standard computing interfaces effectively.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135" y="3754785"/>
            <a:ext cx="457200" cy="59436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5135" y="385586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66744"/>
            <a:ext cx="594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&amp; CV Advancements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29824"/>
            <a:ext cx="594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OpenAI Whisper, and Google Gemini enable real-time touchless gesture, voice, and AI-powered interaction on standard hardware.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158887"/>
            <a:ext cx="457200" cy="594360"/>
          </a:xfrm>
          <a:prstGeom prst="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523062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54407"/>
            <a:ext cx="594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Inclusive Computing Need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65219"/>
            <a:ext cx="594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Healthcare, industry, education, and everyday users need a natural, accessible, and intelligent touchless interaction system.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280160"/>
            <a:ext cx="4297680" cy="10972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79" y="13258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A5F7A"/>
                </a:solidFill>
                <a:latin typeface="Calibri"/>
              </a:rPr>
              <a:t>40+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191109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Years of Unchanged HCI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2514600"/>
            <a:ext cx="2057400" cy="10972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79" y="25603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86AB"/>
                </a:solidFill>
                <a:latin typeface="Calibri"/>
              </a:rPr>
              <a:t>1B+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0175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Disabled Users Globally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514600"/>
            <a:ext cx="2057400" cy="10972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25603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B2D8B"/>
                </a:solidFill>
                <a:latin typeface="Calibri"/>
              </a:rPr>
              <a:t>95%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0175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Gesture Recognition 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3749039"/>
            <a:ext cx="429768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379476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D8B57"/>
                </a:solidFill>
                <a:latin typeface="Calibri"/>
              </a:rPr>
              <a:t>30+ FPS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2519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  <a:latin typeface="Calibri"/>
              </a:rPr>
              <a:t>Real-Time Performance — No GPU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4983480"/>
            <a:ext cx="429768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79" y="502920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7C2A"/>
                </a:solidFill>
                <a:latin typeface="Calibri"/>
              </a:rPr>
              <a:t>$200B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4864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  <a:latin typeface="Calibri"/>
              </a:rPr>
              <a:t>Gesture Recognition Market by 2033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128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human-computer interaction relies on physical input devices unchanged for over four decades. These devices limit accessibility for disabled users, create hygiene risks in hospitals, and are impractical in industrial hands-free scenarios. Advances in Computer Vision, Deep Learning, and Generative AI enable a real-time, intelligent touchless system that bridges humans and computers naturally across healthcare, education, industry, and everyday computing.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" y="3291840"/>
            <a:ext cx="3749039" cy="32004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33079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  <a:latin typeface="Calibri"/>
              </a:rPr>
              <a:t>🖱️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52448"/>
            <a:ext cx="3383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7189" y="4056132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Device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909" y="4425464"/>
            <a:ext cx="34747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200" b="0" i="0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Mouse &amp; keyboard restrict disabled users, require contact, and are unsuitable for sterile or hazardous environments.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3284041"/>
            <a:ext cx="3749039" cy="3200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6258" y="33123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38" y="3980775"/>
            <a:ext cx="3383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54829" y="4089702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&amp; Computer Vision Advances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1978" y="4459034"/>
            <a:ext cx="34747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 err="1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sz="2200" b="0" i="0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OpenCV, Whisper, and Generative AI enable real-time gesture, blink, expression, and voice-based interaction.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299639"/>
            <a:ext cx="3749039" cy="32004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7" y="3363555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4003635"/>
            <a:ext cx="3383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4117230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1196" y="4422525"/>
            <a:ext cx="34747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unified system fusing 4 input modalities with intelligent screen interaction and automatic context adaptation.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9706" y="1462278"/>
            <a:ext cx="45719" cy="2541147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75695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  Aim of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754026"/>
            <a:ext cx="63244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Multimodal Touchless Human-Computer Interaction Engine enabling complete computer control through hand gesture recognition, eye blink detection, facial expression analysis, and voice commands — integrated with OCR-based screen reading, Generative AI for intelligent screen interaction, and automatic context-switching across active applications.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507" y="3966849"/>
            <a:ext cx="6858000" cy="365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0624" y="3993592"/>
            <a:ext cx="73152" cy="21031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06" y="4079382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E87C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4531294"/>
            <a:ext cx="62516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touchless systems are predominantly single-modal, lack intelligent context adaptation, do not integrate Generative AI for screen content interaction, and provide no accessibility support for physically disabled users — leaving a critical gap in unified, intelligent, and inclusive human-computer interaction.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34440"/>
            <a:ext cx="4114800" cy="5029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1325880"/>
            <a:ext cx="374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Highlights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828800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🖐️  4 Input Modalities Fused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267712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👁️  Eye Blink Click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706624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😊  Facial Expression Commands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145536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🗣️  Whisper Voice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584448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📖  OCR Screen Reader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023360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🤖  Gemini + </a:t>
            </a:r>
            <a:r>
              <a:rPr b="0" i="0" dirty="0" err="1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i="0" dirty="0" err="1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endParaRPr b="0" i="0" dirty="0">
              <a:solidFill>
                <a:srgbClr val="0D3B4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55279" y="4462272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🔄  Auto Context Switching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901184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♿  Accessibility Profiles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340096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 Real-Time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731520" cy="1280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731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371600"/>
            <a:ext cx="1069848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463040"/>
            <a:ext cx="10424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Touchless Interaction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47088"/>
            <a:ext cx="104241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9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touchless HCI system using hand gesture recognition, eye blink detection, facial expression analysis, and voice commands for complete computer control without physical devices.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371600"/>
            <a:ext cx="54864" cy="1280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731520" cy="1280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3154680"/>
            <a:ext cx="731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834640"/>
            <a:ext cx="1069848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2926080"/>
            <a:ext cx="10424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86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OCR + </a:t>
            </a:r>
            <a:r>
              <a:rPr sz="2000" b="1" i="0" dirty="0" err="1">
                <a:solidFill>
                  <a:srgbClr val="2E86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sz="2000" b="1" i="0" dirty="0">
                <a:solidFill>
                  <a:srgbClr val="2E86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Screen 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10128"/>
            <a:ext cx="10424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OCR-based screen reading system integrated with Generative AI (Gemini/</a:t>
            </a:r>
            <a:r>
              <a:rPr sz="20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for text summarization, translation, and auditory feedback across diverse screen contexts.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834640"/>
            <a:ext cx="54864" cy="1280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4297680"/>
            <a:ext cx="731520" cy="128016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4617720"/>
            <a:ext cx="731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297680"/>
            <a:ext cx="1069848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389120"/>
            <a:ext cx="10424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7B2D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Context Switching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773168"/>
            <a:ext cx="10424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an automatic context-switching mechanism that detects active applications and dynamically adapts gesture-to-action mappings for seamless multi-application interaction.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297680"/>
            <a:ext cx="54864" cy="128016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Review (1–5)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197260"/>
              </p:ext>
            </p:extLst>
          </p:nvPr>
        </p:nvGraphicFramePr>
        <p:xfrm>
          <a:off x="182880" y="1469431"/>
          <a:ext cx="11887200" cy="5047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685"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1C1C1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on Hand Gesture Recognition
(</a:t>
                      </a:r>
                      <a:r>
                        <a:rPr sz="1500" dirty="0" err="1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Linardakis</a:t>
                      </a:r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 RGB, depth and video-based gesture recognition approaches, benchmark datasets and feature extraction methods.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generalization across diverse users and environments.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63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C1C1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Multi-Modal Assistive Framework
(Bhat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OCR, TTS and multilingual translation using Tesseract OCR and OpenCV for physically impaired users.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internet-dependent APIs for translation and speech functionalities.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735"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1C1C1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Sign Language
(Khan et al.)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continuous sign language recognition using spatial, temporal, and alignment-based deep learning approaches.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complexity and signer variability remained unresolved.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322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C1C1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Virtual Mouse
(Malik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AI-powered virtual mouse using OpenCV, </a:t>
                      </a:r>
                      <a:r>
                        <a:rPr sz="1500" dirty="0" err="1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MediaPipe</a:t>
                      </a:r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sz="1500" dirty="0" err="1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PyAutoGUI</a:t>
                      </a:r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touchless cursor control and navigation.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Difficulties under varying lighting conditions and complex backgrounds.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C1C1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Mouse + Keyboard AI
(Kotti et al.)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gesture-controlled virtual mouse and keyboard using OpenCV, MediaPipe and AI for smart teaching environments.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controlled environments without adaptive context switching.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Review (6–10)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386189"/>
              </p:ext>
            </p:extLst>
          </p:nvPr>
        </p:nvGraphicFramePr>
        <p:xfrm>
          <a:off x="182880" y="1463040"/>
          <a:ext cx="11887200" cy="4984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815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061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C1C1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Across Data Modalities
(Shin et al.)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gesture recognition across RGB, depth, skeleton, EEG and EMG modalities with deep learning approaches.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in signer-independent systems and continuous gesture recognition.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11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C1C1C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CNN-RNN Architecture
(</a:t>
                      </a:r>
                      <a:r>
                        <a:rPr sz="1500" dirty="0" err="1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Hax</a:t>
                      </a:r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Inception-v3 and LSTM for dynamic hand gesture recognition achieving improved accuracy in realistic environments.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Unusual gestures and real-time transmission issues affected responsiveness.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08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C1C1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2018–2024
(</a:t>
                      </a:r>
                      <a:r>
                        <a:rPr sz="1500" dirty="0" err="1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Hashi</a:t>
                      </a:r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vision-based, sensor-based and hybrid gesture recognition systems for feature extraction and classification accuracy.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gesture recognition and dataset limitations remain challenges.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30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C1C1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HCI Gesture Tracking (PSO+KCF)
(</a:t>
                      </a:r>
                      <a:r>
                        <a:rPr lang="en-IN"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</a:t>
                      </a:r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</a:t>
                      </a:r>
                      <a:r>
                        <a:rPr lang="en-IN"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,Y Yang</a:t>
                      </a:r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gesture tracking using particle swarm optimization and kernel correlation filtering for monocular RGB cameras.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gesture sequences remained computationally demanding.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992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C1C1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Advancing Multimodal Fusion in Human-Computer Interaction (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Jagnade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al.)</a:t>
                      </a:r>
                      <a:endParaRPr sz="1500" b="0" dirty="0">
                        <a:solidFill>
                          <a:srgbClr val="1C1C1C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sz="1500" dirty="0">
                        <a:solidFill>
                          <a:srgbClr val="1C1C1C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multimodal HCI system integrating eye tracking, lips detection, speech recognition, and voice synthesis using OpenCV, </a:t>
                      </a:r>
                      <a:r>
                        <a:rPr lang="en-IN" sz="15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Mediapipe</a:t>
                      </a:r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5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PyAutoGUI</a:t>
                      </a:r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IN" sz="15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SpeechRecognition</a:t>
                      </a:r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intelligent cursor control and auditory feedback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400" b="0" dirty="0">
                        <a:solidFill>
                          <a:srgbClr val="1C1C1C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affected by lighting conditions, calibration issues, user variability, and environmental noise.</a:t>
                      </a:r>
                      <a:endParaRPr sz="1500" b="0" dirty="0">
                        <a:solidFill>
                          <a:srgbClr val="1C1C1C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1234440"/>
            <a:ext cx="5760720" cy="4114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185" y="1205335"/>
            <a:ext cx="576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  </a:t>
            </a:r>
            <a:r>
              <a:rPr sz="2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  <a:endParaRPr sz="1300" b="1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" y="1757183"/>
            <a:ext cx="5394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🖱️ Single-Modal Gesture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185" y="2112705"/>
            <a:ext cx="539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/OpenCV hand-only tools — no eye, face, or voice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778566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🗣️ Voice-Only Assistants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185" y="3084448"/>
            <a:ext cx="539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Dragon NaturallySpeaking — no visual gesture recognition capability.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716004"/>
            <a:ext cx="5394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📖 Traditional Screen Readers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185" y="4114800"/>
            <a:ext cx="539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NVDA/JAWS — text only, no image or icon description, no </a:t>
            </a:r>
            <a:r>
              <a:rPr sz="16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185" y="4728925"/>
            <a:ext cx="5394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👁️ Eye Gaze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765" y="5027769"/>
            <a:ext cx="539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Tobii trackers — expensive specialized hardware limiting accessibility.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614106"/>
            <a:ext cx="5394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5F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🔧 Fixed Gesture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875" y="5909606"/>
            <a:ext cx="539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Leap Motion — no automatic context switching across applications.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5760720" cy="41148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234440"/>
            <a:ext cx="5760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Limitations of Existing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37360"/>
            <a:ext cx="57607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810512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 Single modality — fails when unavailable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212848"/>
            <a:ext cx="5760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28600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 No context-aware gesture adaptation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88336"/>
            <a:ext cx="57607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2761488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 Expensive specialized hardware needed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163824"/>
            <a:ext cx="5760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236976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 No Generative AI screen interaction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39312"/>
            <a:ext cx="57607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3712463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 No accessibility profiles for disabled users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114800"/>
            <a:ext cx="5760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4187952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 No OCR-based screen reading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590288"/>
            <a:ext cx="57607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466344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 Requires dedicated GPU for performance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9F2844C-BE65-BE0C-877E-3F314D0F4D5D}"/>
              </a:ext>
            </a:extLst>
          </p:cNvPr>
          <p:cNvSpPr/>
          <p:nvPr/>
        </p:nvSpPr>
        <p:spPr>
          <a:xfrm>
            <a:off x="210185" y="1682358"/>
            <a:ext cx="5733415" cy="1049427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000EE00-C05F-590D-AC99-91EE1383ED5C}"/>
              </a:ext>
            </a:extLst>
          </p:cNvPr>
          <p:cNvSpPr/>
          <p:nvPr/>
        </p:nvSpPr>
        <p:spPr>
          <a:xfrm>
            <a:off x="210185" y="2788143"/>
            <a:ext cx="5760720" cy="924812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519DBD7-B0E9-EC87-A659-66E407D99C2D}"/>
              </a:ext>
            </a:extLst>
          </p:cNvPr>
          <p:cNvSpPr/>
          <p:nvPr/>
        </p:nvSpPr>
        <p:spPr>
          <a:xfrm>
            <a:off x="210186" y="3758370"/>
            <a:ext cx="5760720" cy="924812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8E48F55-73D5-0E31-8E17-5FF1F4703BA5}"/>
              </a:ext>
            </a:extLst>
          </p:cNvPr>
          <p:cNvSpPr/>
          <p:nvPr/>
        </p:nvSpPr>
        <p:spPr>
          <a:xfrm>
            <a:off x="210187" y="4675968"/>
            <a:ext cx="5733414" cy="924812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5D9FF3-5D9E-3861-BDB8-B7585F606FBC}"/>
              </a:ext>
            </a:extLst>
          </p:cNvPr>
          <p:cNvSpPr/>
          <p:nvPr/>
        </p:nvSpPr>
        <p:spPr>
          <a:xfrm>
            <a:off x="210185" y="5644768"/>
            <a:ext cx="5733416" cy="924812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1612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Multimodal Touchless HCI Engine addresses all existing limitations through 4-modal fusion, </a:t>
            </a:r>
            <a:r>
              <a:rPr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integration, OCR screen reading, and auto context switching on standard consumer hardware.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64773"/>
            <a:ext cx="2697480" cy="2370065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135191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  <a:latin typeface="Calibri"/>
              </a:rPr>
              <a:t>🖐️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 Gestures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148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090672"/>
            <a:ext cx="2514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
21 landmarks
Cursor control
Click/Scroll/Drag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064773"/>
            <a:ext cx="2697480" cy="237006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59" y="209359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  <a:latin typeface="Calibri"/>
              </a:rPr>
              <a:t>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06040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 Blink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79" y="3017520"/>
            <a:ext cx="2148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0" y="3090672"/>
            <a:ext cx="2514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CLICKING
EAR method
Left/Right click
98%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064771"/>
            <a:ext cx="2697480" cy="2370067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206431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  <a:latin typeface="Calibri"/>
              </a:rPr>
              <a:t>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606040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Facial Expressions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2148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3090672"/>
            <a:ext cx="2514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
468 landmarks
Smile/Eyebrow
Mouth commands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2064773"/>
            <a:ext cx="2697480" cy="2370066"/>
          </a:xfrm>
          <a:prstGeom prst="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0" y="206431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06040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Commands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3017520"/>
            <a:ext cx="2148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0" y="3090672"/>
            <a:ext cx="2514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
Whisper STT
99 Languages
AI triggers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480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F7A"/>
                </a:solidFill>
                <a:latin typeface="Calibr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983480"/>
            <a:ext cx="3474720" cy="12801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3291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📖 OCR Screen Reader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86400"/>
            <a:ext cx="3291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screens → OCR + pyttsx3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983480"/>
            <a:ext cx="3474720" cy="128016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34840" y="5074920"/>
            <a:ext cx="3291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🤖 </a:t>
            </a:r>
            <a:r>
              <a:rPr sz="2000" b="1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(Gemini/</a:t>
            </a:r>
            <a:r>
              <a:rPr sz="2000" b="1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486400"/>
            <a:ext cx="3291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screens → Summarize/Translate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4983480"/>
            <a:ext cx="3474720" cy="128016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19" y="5074920"/>
            <a:ext cx="3291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🔄 Context Switcher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486400"/>
            <a:ext cx="3291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detection → YAML profiles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12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webcam frames captured by OpenCV feed into parallel pipelines for hand tracking, facial analysis, and context monitoring, while Whisper processes microphone audio simultaneously.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53265"/>
            <a:ext cx="3749039" cy="4064655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19436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Calibri"/>
              </a:rPr>
              <a:t>🖐️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199" y="2733462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0999" y="2759038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 Tracking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39" y="3343676"/>
            <a:ext cx="34747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detects 21 hand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Gestures: click, drag, scroll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Smoothing + normalization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PyAutoGUI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controls mouse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2153264"/>
            <a:ext cx="3749039" cy="406465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251959" y="2218639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Calibri"/>
              </a:rPr>
              <a:t>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740750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2770117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Facial Analysis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583783"/>
            <a:ext cx="347472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Mesh (468        landmarks)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Eye blink → left/right click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Smile &amp; eyebrow → extra commands</a:t>
            </a:r>
            <a:endParaRPr sz="2200" b="0" i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0" y="2153264"/>
            <a:ext cx="3749039" cy="4064656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218639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79" y="2757120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345" y="2799405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Command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780281"/>
            <a:ext cx="34747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 via SoundDevice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Whisper → text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Commands → actions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&amp; scroll control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749039" cy="516636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084831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 Interaction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514600"/>
            <a:ext cx="347472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 Interaction </a:t>
            </a:r>
          </a:p>
          <a:p>
            <a:pPr lvl="1"/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 → Screenshot → Detect window </a:t>
            </a:r>
          </a:p>
          <a:p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Screens</a:t>
            </a: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OCR → Text → Speech </a:t>
            </a:r>
          </a:p>
          <a:p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Screens</a:t>
            </a: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AI → 	Summarize/Translate → 	Speech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80160"/>
            <a:ext cx="3749039" cy="5166360"/>
          </a:xfrm>
          <a:prstGeom prst="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59" y="13716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399" y="2084831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Switching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777073"/>
            <a:ext cx="34747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active app → Load gesture profile </a:t>
            </a:r>
          </a:p>
          <a:p>
            <a:endParaRPr lang="en-IN" sz="2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IN" sz="2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PPT → Presentation </a:t>
            </a:r>
          </a:p>
          <a:p>
            <a:r>
              <a:rPr lang="en-IN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 → Navigation </a:t>
            </a:r>
          </a:p>
          <a:p>
            <a:r>
              <a:rPr lang="en-IN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 → Coding </a:t>
            </a:r>
          </a:p>
          <a:p>
            <a:r>
              <a:rPr lang="en-IN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 → Controls </a:t>
            </a:r>
          </a:p>
          <a:p>
            <a:r>
              <a:rPr lang="en-IN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→ Mouse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280160"/>
            <a:ext cx="3749039" cy="5166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3716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011680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084831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4059" y="3074996"/>
            <a:ext cx="34747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system speed (FPS)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gesture 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response delay Monitors CPU &amp; RAM usage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usage patterns</a:t>
            </a:r>
            <a:endParaRPr sz="2200" b="0" i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566160" cy="2148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566160" cy="5029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08869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🖱️  Complete Touchless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3383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cursor, click, scroll, drag and keyboard operations without any physical device.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71600"/>
            <a:ext cx="3566160" cy="2148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0" y="1371600"/>
            <a:ext cx="356616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398807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🤖  Intelligent Screen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965960"/>
            <a:ext cx="3383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OCR reads basic screens aloud. </a:t>
            </a:r>
            <a:r>
              <a:rPr sz="20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summarizes and translates</a:t>
            </a:r>
            <a:r>
              <a:rPr lang="en-US"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 applications.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566160" cy="2148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566160" cy="5029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9" y="1444752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🔄  Adaptive Context Switching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1965960"/>
            <a:ext cx="3383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Gesture mappings auto-adapt per active application across all software environments.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566160" cy="2148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3566160" cy="502920"/>
          </a:xfrm>
          <a:prstGeom prst="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822191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 Real-Time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343400"/>
            <a:ext cx="3383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FPS, accuracy, latency and resource metrics demonstrating production</a:t>
            </a:r>
            <a:r>
              <a:rPr lang="en-US"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 performance.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749039"/>
            <a:ext cx="3566160" cy="2148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0" y="3749039"/>
            <a:ext cx="3566160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0" y="3822191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♿  Universal Accessibility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343400"/>
            <a:ext cx="3383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Eyes-only, face-only and voice-only modes enabling access for physically disabled users.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749039"/>
            <a:ext cx="3566160" cy="2148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55279" y="3749039"/>
            <a:ext cx="3566160" cy="502920"/>
          </a:xfrm>
          <a:prstGeom prst="rect">
            <a:avLst/>
          </a:prstGeom>
          <a:solidFill>
            <a:srgbClr val="8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19" y="3822191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🌍  Broad Application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4343400"/>
            <a:ext cx="3383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use in healthcare, industry, education, and accessibility computing domains.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346" y="1630928"/>
            <a:ext cx="63975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Multimodal Touchless Human-Computer Interaction Engine enables touchless computing by integrating hand gestures, eye blinks, facial expressions, and voice commands on standard hardware without specialized devices; using Google </a:t>
            </a:r>
            <a:r>
              <a:rPr lang="en-IN" sz="200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OpenAI Whisper, </a:t>
            </a:r>
            <a:r>
              <a:rPr lang="en-IN" sz="200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pytesseract</a:t>
            </a:r>
            <a:r>
              <a:rPr lang="en-IN" sz="20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Google Gemini with </a:t>
            </a:r>
            <a:r>
              <a:rPr lang="en-IN" sz="200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sz="20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 achieves real-time performance (30+ FPS, under 30 </a:t>
            </a:r>
            <a:r>
              <a:rPr lang="en-IN" sz="200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0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latency) while automatic context switching and accessibility profiles ensure seamless adaptability and usability for diverse users.</a:t>
            </a:r>
            <a:endParaRPr sz="2000" b="0" i="0" dirty="0">
              <a:solidFill>
                <a:srgbClr val="4444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46720" y="1234440"/>
            <a:ext cx="3931920" cy="21945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0" y="1234440"/>
            <a:ext cx="3931920" cy="4114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1261872"/>
            <a:ext cx="374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🔭 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719072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🥽  AR/VR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7400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⌚  Wearable Device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395728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🌍  Expanded Multilingual 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734056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📱  Mobile App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072384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D3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🧠  EEG Brain-Computer Interface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566160"/>
            <a:ext cx="39319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3566160"/>
            <a:ext cx="393192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3593592"/>
            <a:ext cx="374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Key Achievements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4069080"/>
            <a:ext cx="228600" cy="228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4069080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Modalities Fused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4416552"/>
            <a:ext cx="228600" cy="228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4416552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30+ FPS Real-Time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4764024"/>
            <a:ext cx="228600" cy="228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4764024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95%+ Gesture 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5111496"/>
            <a:ext cx="228600" cy="228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4192" y="5111496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Without GPU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5458968"/>
            <a:ext cx="228600" cy="228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5458968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1234440"/>
            <a:ext cx="5852160" cy="3657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185" y="1227513"/>
            <a:ext cx="5852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References [1–</a:t>
            </a:r>
            <a:r>
              <a:rPr lang="en-US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691640"/>
            <a:ext cx="5852160" cy="9000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733365"/>
            <a:ext cx="5669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M. </a:t>
            </a:r>
            <a:r>
              <a:rPr sz="16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Linardakis</a:t>
            </a:r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I. </a:t>
            </a:r>
            <a:r>
              <a:rPr sz="16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Varlamis</a:t>
            </a:r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G. T. Papadopoulos, "Survey on Hand Gesture Recognition from Visual Input," IEEE Access, vol. 13, 2025.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629479"/>
            <a:ext cx="5852160" cy="10637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2701521"/>
            <a:ext cx="5669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S. Bhat, P. Bhat, S. V. </a:t>
            </a:r>
            <a:r>
              <a:rPr sz="16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Kolekar</a:t>
            </a:r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"From Vision to Voice: A Multi-Modal Assistive Framework for the Physically Impaired," IEEE Access, vol. 13, 2025.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3126" y="3730272"/>
            <a:ext cx="5871599" cy="99669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3735839"/>
            <a:ext cx="5669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A. Khan et al., "Deep Learning Approaches for Continuous Sign Language Recognition: A Comprehensive Review," IEEE Access, vol. 13, 2025.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599" y="4755784"/>
            <a:ext cx="5852160" cy="7105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4769930"/>
            <a:ext cx="5669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A. Malik et al., "AI Virtual Mouse," IEEE Conference Publication, 2025.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5521661"/>
            <a:ext cx="5852160" cy="92333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159" y="5509788"/>
            <a:ext cx="58424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J. Kotti, B. Padmaja, D. Deepa, "Enhancing Gesture-Controlled Virtual Mouse and Virtual Keyboard Using AI Techniques," Journal of Mobile Multimedia, vol. 20, no. 2, 2024</a:t>
            </a:r>
            <a:endParaRPr sz="1600" b="0" i="0" dirty="0">
              <a:solidFill>
                <a:srgbClr val="4444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17920" y="1234440"/>
            <a:ext cx="576072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234440"/>
            <a:ext cx="5760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References [</a:t>
            </a:r>
            <a:r>
              <a:rPr lang="en-US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691639"/>
            <a:ext cx="5760720" cy="918163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672639"/>
            <a:ext cx="5760720" cy="10343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754519"/>
            <a:ext cx="5760720" cy="904650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693307"/>
            <a:ext cx="5760720" cy="796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5519403"/>
            <a:ext cx="5760720" cy="925587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9FDC77-EC4B-3089-F87D-80FBFD4AF543}"/>
              </a:ext>
            </a:extLst>
          </p:cNvPr>
          <p:cNvSpPr txBox="1"/>
          <p:nvPr/>
        </p:nvSpPr>
        <p:spPr>
          <a:xfrm>
            <a:off x="6319079" y="4683979"/>
            <a:ext cx="5577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D. He, Y. Yang, R. Wu, "Design of Human-Computer Interaction Gesture Tracking Model on Improved PSO and KCF Algorithms," IEEE Access, vol. 12, 2024.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0CA8EF-F323-89A8-A38F-6F2F5D508CC9}"/>
              </a:ext>
            </a:extLst>
          </p:cNvPr>
          <p:cNvSpPr txBox="1"/>
          <p:nvPr/>
        </p:nvSpPr>
        <p:spPr>
          <a:xfrm>
            <a:off x="6309360" y="5555954"/>
            <a:ext cx="5577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Jagnade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“Advancing Multimodal Fusion in Human-Computer Interaction,” IEEE ICCCNT, 2023. </a:t>
            </a:r>
            <a:endParaRPr sz="1600" i="0" dirty="0">
              <a:solidFill>
                <a:srgbClr val="4444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6B51E2-B882-90E9-8492-FF37F40CD8C0}"/>
              </a:ext>
            </a:extLst>
          </p:cNvPr>
          <p:cNvSpPr txBox="1"/>
          <p:nvPr/>
        </p:nvSpPr>
        <p:spPr>
          <a:xfrm>
            <a:off x="6336419" y="3747245"/>
            <a:ext cx="5669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A. O. </a:t>
            </a:r>
            <a:r>
              <a:rPr sz="16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Hashi</a:t>
            </a:r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"A Systematic Review of Hand Gesture Recognition: An Update From 2018 to 2024," IEEE Access, vol. 12, 2024.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E0DEBC-995A-F3EE-BBD6-11CD236A8DFB}"/>
              </a:ext>
            </a:extLst>
          </p:cNvPr>
          <p:cNvSpPr txBox="1"/>
          <p:nvPr/>
        </p:nvSpPr>
        <p:spPr>
          <a:xfrm>
            <a:off x="6309360" y="2683253"/>
            <a:ext cx="5669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D. R. T. </a:t>
            </a:r>
            <a:r>
              <a:rPr sz="16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Hax</a:t>
            </a:r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"A Novel Hybrid Deep Learning Architecture for Dynamic Hand Gesture Recognition," IEEE Access, vol. 12, 2024.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0AFED1-7237-CE73-012B-0B907AF632D8}"/>
              </a:ext>
            </a:extLst>
          </p:cNvPr>
          <p:cNvSpPr txBox="1"/>
          <p:nvPr/>
        </p:nvSpPr>
        <p:spPr>
          <a:xfrm>
            <a:off x="6263640" y="1720014"/>
            <a:ext cx="5669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J. Shin et al., "A Methodological and Structural Review of Hand Gesture Recognition Across Diverse Data Modalities," IEEE Access, vol. 12, 2024.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06072" y="0"/>
            <a:ext cx="182880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0" y="13716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libri"/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8531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9445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solidFill>
                  <a:srgbClr val="F4C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Touchless Human-Computer Interaction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023360"/>
            <a:ext cx="4873752" cy="54864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4160520"/>
            <a:ext cx="9445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solidFill>
                  <a:srgbClr val="CCE5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Real-Time AI-Powered Touchless Interaction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303520"/>
            <a:ext cx="1554480" cy="4114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5330952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🖐️ </a:t>
            </a:r>
            <a:r>
              <a:rPr sz="1200" b="1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endParaRPr sz="1200" b="1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53512" y="5303520"/>
            <a:ext cx="155448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5330952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👁️ OpenCV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35424" y="5303520"/>
            <a:ext cx="1554480" cy="41148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1144" y="5330952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🗣️ Whisper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7336" y="5303520"/>
            <a:ext cx="1554480" cy="411480"/>
          </a:xfrm>
          <a:prstGeom prst="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63055" y="5330952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🤖 </a:t>
            </a:r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5303520"/>
            <a:ext cx="1554480" cy="41148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44968" y="5330952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📖 OCR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5303520"/>
            <a:ext cx="1554480" cy="4114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5330952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sz="1200" b="1" i="0" dirty="0" err="1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sz="1200" b="1" i="0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2050</Words>
  <Application>Microsoft Office PowerPoint</Application>
  <PresentationFormat>Custom</PresentationFormat>
  <Paragraphs>272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Georgia</vt:lpstr>
      <vt:lpstr>Source Sans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Disha H</dc:creator>
  <cp:keywords/>
  <dc:description>generated using python-pptx</dc:description>
  <cp:lastModifiedBy>Gagan G</cp:lastModifiedBy>
  <cp:revision>6</cp:revision>
  <dcterms:created xsi:type="dcterms:W3CDTF">2013-01-27T09:14:16Z</dcterms:created>
  <dcterms:modified xsi:type="dcterms:W3CDTF">2026-05-22T16:11:46Z</dcterms:modified>
  <cp:category/>
</cp:coreProperties>
</file>